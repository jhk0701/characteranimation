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60" r:id="rId4"/>
    <p:sldId id="259" r:id="rId5"/>
    <p:sldId id="257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116" autoAdjust="0"/>
  </p:normalViewPr>
  <p:slideViewPr>
    <p:cSldViewPr snapToGrid="0">
      <p:cViewPr>
        <p:scale>
          <a:sx n="66" d="100"/>
          <a:sy n="66" d="100"/>
        </p:scale>
        <p:origin x="2196" y="8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867025-E300-421D-BABB-5C49D5736377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03AB99-662C-46EC-B86C-F2E227D3EF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2853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7520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993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xmlns="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xmlns="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xmlns="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xmlns="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xmlns="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xmlns="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xmlns="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xmlns="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xmlns="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xmlns="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793E08CF-A6B7-6BE9-B7B8-4498ADC66316}"/>
              </a:ext>
            </a:extLst>
          </p:cNvPr>
          <p:cNvSpPr txBox="1"/>
          <p:nvPr/>
        </p:nvSpPr>
        <p:spPr>
          <a:xfrm>
            <a:off x="455516" y="2869142"/>
            <a:ext cx="661524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주제 </a:t>
            </a:r>
            <a:r>
              <a:rPr lang="en-US" altLang="ko-KR" sz="2400" dirty="0"/>
              <a:t>: </a:t>
            </a:r>
            <a:r>
              <a:rPr lang="ko-KR" altLang="en-US" sz="2400" dirty="0" smtClean="0"/>
              <a:t>캐릭터 애니메이션 </a:t>
            </a:r>
            <a:r>
              <a:rPr lang="ko-KR" altLang="en-US" sz="2400" dirty="0" err="1" smtClean="0"/>
              <a:t>파쿠르</a:t>
            </a:r>
            <a:r>
              <a:rPr lang="ko-KR" altLang="en-US" sz="2400" dirty="0" smtClean="0"/>
              <a:t> 시스템 </a:t>
            </a:r>
            <a:r>
              <a:rPr lang="en-US" altLang="ko-KR" sz="2400" dirty="0" smtClean="0"/>
              <a:t>1</a:t>
            </a:r>
            <a:r>
              <a:rPr lang="ko-KR" altLang="en-US" sz="2400" dirty="0" smtClean="0"/>
              <a:t>주차</a:t>
            </a:r>
            <a:endParaRPr lang="en-US" altLang="ko-KR" sz="2400" dirty="0" smtClean="0"/>
          </a:p>
          <a:p>
            <a:r>
              <a:rPr lang="ko-KR" altLang="en-US" dirty="0" smtClean="0"/>
              <a:t>발표자 </a:t>
            </a:r>
            <a:r>
              <a:rPr lang="en-US" altLang="ko-KR" dirty="0" smtClean="0"/>
              <a:t>: </a:t>
            </a:r>
            <a:r>
              <a:rPr lang="ko-KR" altLang="en-US" dirty="0" smtClean="0"/>
              <a:t>김정환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767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68E24C7-A429-CDA0-4EB6-16142BB05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4715F932-2F2C-4A3F-7F16-1B13D352985A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이번 주 작업 내역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6DE5C835-CE30-2461-B5B2-C304088E694A}"/>
              </a:ext>
            </a:extLst>
          </p:cNvPr>
          <p:cNvSpPr txBox="1"/>
          <p:nvPr/>
        </p:nvSpPr>
        <p:spPr>
          <a:xfrm>
            <a:off x="302451" y="758852"/>
            <a:ext cx="81180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 smtClean="0"/>
              <a:t>미니엔진 구성 파악</a:t>
            </a:r>
            <a:endParaRPr lang="en-US" altLang="ko-KR" sz="16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600" dirty="0"/>
              <a:t>https://</a:t>
            </a:r>
            <a:r>
              <a:rPr lang="en-US" altLang="ko-KR" sz="1600" dirty="0" smtClean="0"/>
              <a:t>github.com/microsoft/DirectX-Graphics-Samples</a:t>
            </a:r>
            <a:endParaRPr lang="en-US" altLang="ko-KR" sz="1600" dirty="0" smtClean="0"/>
          </a:p>
        </p:txBody>
      </p:sp>
      <p:sp>
        <p:nvSpPr>
          <p:cNvPr id="7" name="직사각형 6"/>
          <p:cNvSpPr/>
          <p:nvPr/>
        </p:nvSpPr>
        <p:spPr>
          <a:xfrm>
            <a:off x="1905176" y="1664107"/>
            <a:ext cx="1858944" cy="552661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bg1"/>
                </a:solidFill>
              </a:rPr>
              <a:t>Core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5900891" y="1666095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tx1"/>
                </a:solidFill>
              </a:rPr>
              <a:t>IGameApp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5900892" y="3219467"/>
            <a:ext cx="1858944" cy="552661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bg1"/>
                </a:solidFill>
              </a:rPr>
              <a:t>ModelViewer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cxnSp>
        <p:nvCxnSpPr>
          <p:cNvPr id="15" name="꺾인 연결선 14"/>
          <p:cNvCxnSpPr>
            <a:stCxn id="13" idx="0"/>
            <a:endCxn id="9" idx="2"/>
          </p:cNvCxnSpPr>
          <p:nvPr/>
        </p:nvCxnSpPr>
        <p:spPr>
          <a:xfrm rot="16200000" flipV="1">
            <a:off x="6330009" y="2719111"/>
            <a:ext cx="1000711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36857" y="2540974"/>
            <a:ext cx="56938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구현</a:t>
            </a:r>
            <a:endParaRPr lang="ko-KR" altLang="en-US" sz="1500" dirty="0"/>
          </a:p>
        </p:txBody>
      </p:sp>
      <p:sp>
        <p:nvSpPr>
          <p:cNvPr id="18" name="TextBox 17"/>
          <p:cNvSpPr txBox="1"/>
          <p:nvPr/>
        </p:nvSpPr>
        <p:spPr>
          <a:xfrm>
            <a:off x="7759835" y="3219467"/>
            <a:ext cx="156805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 err="1" smtClean="0"/>
              <a:t>GameApp</a:t>
            </a:r>
            <a:r>
              <a:rPr lang="en-US" altLang="ko-KR" sz="1500" dirty="0" smtClean="0"/>
              <a:t> </a:t>
            </a:r>
            <a:r>
              <a:rPr lang="ko-KR" altLang="en-US" sz="1500" dirty="0" smtClean="0"/>
              <a:t>구현 </a:t>
            </a:r>
            <a:r>
              <a:rPr lang="en-US" altLang="ko-KR" sz="1500" dirty="0" smtClean="0"/>
              <a:t/>
            </a:r>
            <a:br>
              <a:rPr lang="en-US" altLang="ko-KR" sz="1500" dirty="0" smtClean="0"/>
            </a:br>
            <a:r>
              <a:rPr lang="ko-KR" altLang="en-US" sz="1500" dirty="0" smtClean="0"/>
              <a:t>예시 프로젝트</a:t>
            </a:r>
            <a:endParaRPr lang="ko-KR" altLang="en-US" sz="1500" dirty="0"/>
          </a:p>
        </p:txBody>
      </p:sp>
      <p:sp>
        <p:nvSpPr>
          <p:cNvPr id="20" name="TextBox 19"/>
          <p:cNvSpPr txBox="1"/>
          <p:nvPr/>
        </p:nvSpPr>
        <p:spPr>
          <a:xfrm>
            <a:off x="2930198" y="2339988"/>
            <a:ext cx="218572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 smtClean="0"/>
              <a:t>DirectX12 </a:t>
            </a:r>
            <a:r>
              <a:rPr lang="ko-KR" altLang="en-US" sz="1500" dirty="0" smtClean="0"/>
              <a:t>및 엔진 구현</a:t>
            </a:r>
            <a:r>
              <a:rPr lang="en-US" altLang="ko-KR" sz="1500" dirty="0" smtClean="0"/>
              <a:t/>
            </a:r>
            <a:br>
              <a:rPr lang="en-US" altLang="ko-KR" sz="1500" dirty="0" smtClean="0"/>
            </a:br>
            <a:r>
              <a:rPr lang="ko-KR" altLang="en-US" sz="1500" dirty="0" smtClean="0"/>
              <a:t>정적 라이브러리</a:t>
            </a:r>
            <a:endParaRPr lang="ko-KR" altLang="en-US" sz="1500" dirty="0"/>
          </a:p>
        </p:txBody>
      </p:sp>
      <p:sp>
        <p:nvSpPr>
          <p:cNvPr id="21" name="직사각형 20"/>
          <p:cNvSpPr/>
          <p:nvPr/>
        </p:nvSpPr>
        <p:spPr>
          <a:xfrm>
            <a:off x="1905175" y="4519215"/>
            <a:ext cx="1858944" cy="552661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bg1"/>
                </a:solidFill>
              </a:rPr>
              <a:t>Model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905175" y="5137972"/>
            <a:ext cx="21178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모델 </a:t>
            </a:r>
            <a:r>
              <a:rPr lang="ko-KR" altLang="en-US" sz="1500" dirty="0" err="1" smtClean="0"/>
              <a:t>렌더링</a:t>
            </a:r>
            <a:r>
              <a:rPr lang="ko-KR" altLang="en-US" sz="1500" dirty="0" smtClean="0"/>
              <a:t> 구현 예시</a:t>
            </a:r>
            <a:endParaRPr lang="en-US" altLang="ko-KR" sz="1500" dirty="0" smtClean="0"/>
          </a:p>
          <a:p>
            <a:r>
              <a:rPr lang="ko-KR" altLang="en-US" sz="1500" dirty="0" smtClean="0"/>
              <a:t>정적 라이브러리</a:t>
            </a:r>
            <a:endParaRPr lang="ko-KR" altLang="en-US" sz="1500" dirty="0"/>
          </a:p>
        </p:txBody>
      </p:sp>
      <p:cxnSp>
        <p:nvCxnSpPr>
          <p:cNvPr id="25" name="꺾인 연결선 24"/>
          <p:cNvCxnSpPr>
            <a:stCxn id="13" idx="2"/>
            <a:endCxn id="21" idx="3"/>
          </p:cNvCxnSpPr>
          <p:nvPr/>
        </p:nvCxnSpPr>
        <p:spPr>
          <a:xfrm rot="5400000">
            <a:off x="4785533" y="2750715"/>
            <a:ext cx="1023418" cy="306624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783738" y="1662069"/>
            <a:ext cx="192552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엔진 게임루프 구현 </a:t>
            </a:r>
            <a:r>
              <a:rPr lang="en-US" altLang="ko-KR" sz="1500" dirty="0" smtClean="0"/>
              <a:t/>
            </a:r>
            <a:br>
              <a:rPr lang="en-US" altLang="ko-KR" sz="1500" dirty="0" smtClean="0"/>
            </a:br>
            <a:r>
              <a:rPr lang="ko-KR" altLang="en-US" sz="1500" dirty="0" smtClean="0"/>
              <a:t>인터페이스</a:t>
            </a:r>
            <a:endParaRPr lang="ko-KR" altLang="en-US" sz="1500" dirty="0"/>
          </a:p>
        </p:txBody>
      </p:sp>
      <p:cxnSp>
        <p:nvCxnSpPr>
          <p:cNvPr id="30" name="꺾인 연결선 29"/>
          <p:cNvCxnSpPr>
            <a:stCxn id="21" idx="0"/>
            <a:endCxn id="7" idx="2"/>
          </p:cNvCxnSpPr>
          <p:nvPr/>
        </p:nvCxnSpPr>
        <p:spPr>
          <a:xfrm rot="5400000" flipH="1" flipV="1">
            <a:off x="1683424" y="3367992"/>
            <a:ext cx="2302447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081474" y="3346461"/>
            <a:ext cx="147399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 smtClean="0"/>
              <a:t>DirectX12 </a:t>
            </a:r>
            <a:r>
              <a:rPr lang="ko-KR" altLang="en-US" sz="1500" dirty="0" smtClean="0"/>
              <a:t>이용</a:t>
            </a:r>
            <a:endParaRPr lang="en-US" altLang="ko-KR" sz="1500" dirty="0" smtClean="0"/>
          </a:p>
          <a:p>
            <a:pPr algn="ctr"/>
            <a:r>
              <a:rPr lang="ko-KR" altLang="en-US" sz="1500" dirty="0" smtClean="0"/>
              <a:t>모델 </a:t>
            </a:r>
            <a:r>
              <a:rPr lang="ko-KR" altLang="en-US" sz="1500" dirty="0" err="1" smtClean="0"/>
              <a:t>렌더링</a:t>
            </a:r>
            <a:endParaRPr lang="ko-KR" altLang="en-US" sz="1500" dirty="0"/>
          </a:p>
        </p:txBody>
      </p:sp>
      <p:sp>
        <p:nvSpPr>
          <p:cNvPr id="58" name="TextBox 57"/>
          <p:cNvSpPr txBox="1"/>
          <p:nvPr/>
        </p:nvSpPr>
        <p:spPr>
          <a:xfrm>
            <a:off x="5623063" y="4339574"/>
            <a:ext cx="121379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dirty="0" smtClean="0"/>
              <a:t>모델 </a:t>
            </a:r>
            <a:r>
              <a:rPr lang="ko-KR" altLang="en-US" sz="1500" dirty="0" err="1" smtClean="0"/>
              <a:t>렌더링</a:t>
            </a:r>
            <a:endParaRPr lang="ko-KR" altLang="en-US" sz="1500" dirty="0"/>
          </a:p>
        </p:txBody>
      </p:sp>
      <p:sp>
        <p:nvSpPr>
          <p:cNvPr id="120" name="직사각형 119"/>
          <p:cNvSpPr/>
          <p:nvPr/>
        </p:nvSpPr>
        <p:spPr>
          <a:xfrm>
            <a:off x="5900892" y="5463929"/>
            <a:ext cx="1858944" cy="552661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bg1"/>
                </a:solidFill>
              </a:rPr>
              <a:t>ModelConverter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cxnSp>
        <p:nvCxnSpPr>
          <p:cNvPr id="122" name="꺾인 연결선 121"/>
          <p:cNvCxnSpPr>
            <a:stCxn id="120" idx="0"/>
          </p:cNvCxnSpPr>
          <p:nvPr/>
        </p:nvCxnSpPr>
        <p:spPr>
          <a:xfrm rot="16200000" flipV="1">
            <a:off x="5044766" y="3678330"/>
            <a:ext cx="504952" cy="306624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5782641" y="6101321"/>
            <a:ext cx="354456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사전</a:t>
            </a:r>
            <a:r>
              <a:rPr lang="en-US" altLang="ko-KR" sz="1500" dirty="0" smtClean="0"/>
              <a:t>, 3d </a:t>
            </a:r>
            <a:r>
              <a:rPr lang="ko-KR" altLang="en-US" sz="1500" dirty="0" smtClean="0"/>
              <a:t>파일 </a:t>
            </a:r>
            <a:r>
              <a:rPr lang="ko-KR" altLang="en-US" sz="1500" dirty="0" err="1" smtClean="0"/>
              <a:t>파싱</a:t>
            </a:r>
            <a:r>
              <a:rPr lang="ko-KR" altLang="en-US" sz="1500" dirty="0" smtClean="0"/>
              <a:t> 및 최적화 프로젝트</a:t>
            </a:r>
            <a:endParaRPr lang="en-US" altLang="ko-KR" sz="1500" dirty="0" smtClean="0"/>
          </a:p>
          <a:p>
            <a:r>
              <a:rPr lang="en-US" altLang="ko-KR" sz="1500" dirty="0" smtClean="0"/>
              <a:t>.</a:t>
            </a:r>
            <a:r>
              <a:rPr lang="en-US" altLang="ko-KR" sz="1500" dirty="0" err="1" smtClean="0"/>
              <a:t>obj</a:t>
            </a:r>
            <a:r>
              <a:rPr lang="en-US" altLang="ko-KR" sz="1500" dirty="0" smtClean="0"/>
              <a:t>, .</a:t>
            </a:r>
            <a:r>
              <a:rPr lang="en-US" altLang="ko-KR" sz="1500" dirty="0" err="1" smtClean="0"/>
              <a:t>gltf</a:t>
            </a:r>
            <a:r>
              <a:rPr lang="en-US" altLang="ko-KR" sz="1500" dirty="0" smtClean="0"/>
              <a:t> </a:t>
            </a:r>
            <a:r>
              <a:rPr lang="ko-KR" altLang="en-US" sz="1500" dirty="0" err="1" smtClean="0"/>
              <a:t>확장자</a:t>
            </a:r>
            <a:r>
              <a:rPr lang="ko-KR" altLang="en-US" sz="1500" dirty="0" smtClean="0"/>
              <a:t> 변환 예시</a:t>
            </a:r>
            <a:endParaRPr lang="en-US" altLang="ko-KR" sz="1500" dirty="0" smtClean="0"/>
          </a:p>
        </p:txBody>
      </p:sp>
      <p:sp>
        <p:nvSpPr>
          <p:cNvPr id="133" name="TextBox 132"/>
          <p:cNvSpPr txBox="1"/>
          <p:nvPr/>
        </p:nvSpPr>
        <p:spPr>
          <a:xfrm>
            <a:off x="6816510" y="5025541"/>
            <a:ext cx="185018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/>
              <a:t>.</a:t>
            </a:r>
            <a:r>
              <a:rPr lang="en-US" altLang="ko-KR" sz="1500" dirty="0" err="1"/>
              <a:t>obj</a:t>
            </a:r>
            <a:r>
              <a:rPr lang="en-US" altLang="ko-KR" sz="1500" dirty="0"/>
              <a:t>, .</a:t>
            </a:r>
            <a:r>
              <a:rPr lang="en-US" altLang="ko-KR" sz="1500" dirty="0" err="1"/>
              <a:t>gltf</a:t>
            </a:r>
            <a:r>
              <a:rPr lang="en-US" altLang="ko-KR" sz="1500" dirty="0"/>
              <a:t> </a:t>
            </a:r>
            <a:r>
              <a:rPr lang="ko-KR" altLang="en-US" sz="1500" dirty="0" smtClean="0"/>
              <a:t>파일 변환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21189685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68E24C7-A429-CDA0-4EB6-16142BB05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4715F932-2F2C-4A3F-7F16-1B13D352985A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이번 주 작업 내역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6DE5C835-CE30-2461-B5B2-C304088E694A}"/>
              </a:ext>
            </a:extLst>
          </p:cNvPr>
          <p:cNvSpPr txBox="1"/>
          <p:nvPr/>
        </p:nvSpPr>
        <p:spPr>
          <a:xfrm>
            <a:off x="302451" y="758852"/>
            <a:ext cx="8118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엔진 </a:t>
            </a:r>
            <a:r>
              <a:rPr lang="ko-KR" altLang="en-US" sz="1600" dirty="0" smtClean="0"/>
              <a:t>기반 </a:t>
            </a:r>
            <a:r>
              <a:rPr lang="ko-KR" altLang="en-US" sz="1600" dirty="0"/>
              <a:t>클래스 </a:t>
            </a:r>
            <a:r>
              <a:rPr lang="ko-KR" altLang="en-US" sz="1600" dirty="0" smtClean="0"/>
              <a:t>작성</a:t>
            </a:r>
            <a:endParaRPr lang="en-US" altLang="ko-KR" sz="1600" dirty="0"/>
          </a:p>
        </p:txBody>
      </p:sp>
      <p:sp>
        <p:nvSpPr>
          <p:cNvPr id="38" name="직사각형 37"/>
          <p:cNvSpPr/>
          <p:nvPr/>
        </p:nvSpPr>
        <p:spPr>
          <a:xfrm>
            <a:off x="1093431" y="1295965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tx1"/>
                </a:solidFill>
              </a:rPr>
              <a:t>IGameApp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502606" y="1291809"/>
            <a:ext cx="1858944" cy="552661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bg1"/>
                </a:solidFill>
              </a:rPr>
              <a:t>Character Animation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cxnSp>
        <p:nvCxnSpPr>
          <p:cNvPr id="41" name="꺾인 연결선 40"/>
          <p:cNvCxnSpPr>
            <a:stCxn id="39" idx="1"/>
            <a:endCxn id="38" idx="3"/>
          </p:cNvCxnSpPr>
          <p:nvPr/>
        </p:nvCxnSpPr>
        <p:spPr>
          <a:xfrm rot="10800000" flipV="1">
            <a:off x="2952376" y="1568140"/>
            <a:ext cx="1550231" cy="4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442797" y="1228330"/>
            <a:ext cx="56938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구현</a:t>
            </a:r>
            <a:endParaRPr lang="ko-KR" altLang="en-US" sz="1500" dirty="0"/>
          </a:p>
        </p:txBody>
      </p:sp>
      <p:sp>
        <p:nvSpPr>
          <p:cNvPr id="44" name="TextBox 43"/>
          <p:cNvSpPr txBox="1"/>
          <p:nvPr/>
        </p:nvSpPr>
        <p:spPr>
          <a:xfrm>
            <a:off x="6400886" y="1406556"/>
            <a:ext cx="179087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연구과제 프로젝트</a:t>
            </a:r>
            <a:endParaRPr lang="ko-KR" altLang="en-US" sz="1500" dirty="0"/>
          </a:p>
        </p:txBody>
      </p:sp>
      <p:sp>
        <p:nvSpPr>
          <p:cNvPr id="47" name="직사각형 46"/>
          <p:cNvSpPr/>
          <p:nvPr/>
        </p:nvSpPr>
        <p:spPr>
          <a:xfrm>
            <a:off x="4502606" y="3194064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tx1"/>
                </a:solidFill>
              </a:rPr>
              <a:t>SceneManager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7061109" y="3188863"/>
            <a:ext cx="1316417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tx1"/>
                </a:solidFill>
              </a:rPr>
              <a:t>Scene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5979906" y="4389434"/>
            <a:ext cx="1316418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tx1"/>
                </a:solidFill>
              </a:rPr>
              <a:t>Object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4501600" y="5871353"/>
            <a:ext cx="1316418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tx1"/>
                </a:solidFill>
              </a:rPr>
              <a:t>Actor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7533552" y="5871352"/>
            <a:ext cx="1316418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tx1"/>
                </a:solidFill>
              </a:rPr>
              <a:t>Component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1824233" y="3194064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tx1"/>
                </a:solidFill>
              </a:rPr>
              <a:t>GUIManager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cxnSp>
        <p:nvCxnSpPr>
          <p:cNvPr id="62" name="꺾인 연결선 61"/>
          <p:cNvCxnSpPr>
            <a:stCxn id="39" idx="2"/>
            <a:endCxn id="47" idx="0"/>
          </p:cNvCxnSpPr>
          <p:nvPr/>
        </p:nvCxnSpPr>
        <p:spPr>
          <a:xfrm rot="5400000">
            <a:off x="4757281" y="2519267"/>
            <a:ext cx="1349594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꺾인 연결선 63"/>
          <p:cNvCxnSpPr>
            <a:stCxn id="39" idx="2"/>
            <a:endCxn id="52" idx="0"/>
          </p:cNvCxnSpPr>
          <p:nvPr/>
        </p:nvCxnSpPr>
        <p:spPr>
          <a:xfrm rot="5400000">
            <a:off x="3418095" y="1180081"/>
            <a:ext cx="1349594" cy="26783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702932" y="3835922"/>
            <a:ext cx="218040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 err="1" smtClean="0"/>
              <a:t>ImGui</a:t>
            </a:r>
            <a:r>
              <a:rPr lang="ko-KR" altLang="en-US" sz="1500" dirty="0"/>
              <a:t> </a:t>
            </a:r>
            <a:r>
              <a:rPr lang="ko-KR" altLang="en-US" sz="1500" dirty="0" smtClean="0"/>
              <a:t>라이브러리 활용</a:t>
            </a:r>
            <a:r>
              <a:rPr lang="en-US" altLang="ko-KR" sz="1500" dirty="0" smtClean="0"/>
              <a:t/>
            </a:r>
            <a:br>
              <a:rPr lang="en-US" altLang="ko-KR" sz="1500" dirty="0" smtClean="0"/>
            </a:br>
            <a:r>
              <a:rPr lang="en-US" altLang="ko-KR" sz="1500" dirty="0" smtClean="0"/>
              <a:t>UI </a:t>
            </a:r>
            <a:r>
              <a:rPr lang="ko-KR" altLang="en-US" sz="1500" dirty="0" smtClean="0"/>
              <a:t>업데이트</a:t>
            </a:r>
            <a:r>
              <a:rPr lang="en-US" altLang="ko-KR" sz="1500" dirty="0" smtClean="0"/>
              <a:t>,</a:t>
            </a:r>
            <a:r>
              <a:rPr lang="ko-KR" altLang="en-US" sz="1500" dirty="0" smtClean="0"/>
              <a:t> </a:t>
            </a:r>
            <a:r>
              <a:rPr lang="ko-KR" altLang="en-US" sz="1500" dirty="0" err="1" smtClean="0"/>
              <a:t>렌더링</a:t>
            </a:r>
            <a:r>
              <a:rPr lang="en-US" altLang="ko-KR" sz="1500" dirty="0" smtClean="0"/>
              <a:t> </a:t>
            </a:r>
            <a:endParaRPr lang="ko-KR" altLang="en-US" sz="1500" dirty="0"/>
          </a:p>
        </p:txBody>
      </p:sp>
      <p:cxnSp>
        <p:nvCxnSpPr>
          <p:cNvPr id="70" name="꺾인 연결선 69"/>
          <p:cNvCxnSpPr>
            <a:stCxn id="47" idx="3"/>
            <a:endCxn id="48" idx="1"/>
          </p:cNvCxnSpPr>
          <p:nvPr/>
        </p:nvCxnSpPr>
        <p:spPr>
          <a:xfrm flipV="1">
            <a:off x="6361550" y="3465194"/>
            <a:ext cx="699559" cy="52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5818018" y="3779240"/>
            <a:ext cx="164019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업데이트</a:t>
            </a:r>
            <a:r>
              <a:rPr lang="en-US" altLang="ko-KR" sz="1500" dirty="0" smtClean="0"/>
              <a:t>, </a:t>
            </a:r>
            <a:r>
              <a:rPr lang="ko-KR" altLang="en-US" sz="1500" dirty="0" err="1" smtClean="0"/>
              <a:t>렌더링</a:t>
            </a:r>
            <a:endParaRPr lang="ko-KR" altLang="en-US" sz="1500" dirty="0"/>
          </a:p>
        </p:txBody>
      </p:sp>
      <p:cxnSp>
        <p:nvCxnSpPr>
          <p:cNvPr id="91" name="꺾인 연결선 90"/>
          <p:cNvCxnSpPr>
            <a:stCxn id="48" idx="2"/>
            <a:endCxn id="49" idx="3"/>
          </p:cNvCxnSpPr>
          <p:nvPr/>
        </p:nvCxnSpPr>
        <p:spPr>
          <a:xfrm rot="5400000">
            <a:off x="7045701" y="3992147"/>
            <a:ext cx="924241" cy="42299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꺾인 연결선 99"/>
          <p:cNvCxnSpPr>
            <a:stCxn id="50" idx="0"/>
            <a:endCxn id="49" idx="2"/>
          </p:cNvCxnSpPr>
          <p:nvPr/>
        </p:nvCxnSpPr>
        <p:spPr>
          <a:xfrm rot="5400000" flipH="1" flipV="1">
            <a:off x="5434333" y="4667571"/>
            <a:ext cx="929258" cy="147830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꺾인 연결선 101"/>
          <p:cNvCxnSpPr>
            <a:stCxn id="51" idx="0"/>
            <a:endCxn id="49" idx="2"/>
          </p:cNvCxnSpPr>
          <p:nvPr/>
        </p:nvCxnSpPr>
        <p:spPr>
          <a:xfrm rot="16200000" flipV="1">
            <a:off x="6950310" y="4629901"/>
            <a:ext cx="929257" cy="15536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4314065" y="4357594"/>
            <a:ext cx="166584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객체 기반 클래스</a:t>
            </a:r>
            <a:endParaRPr lang="ko-KR" altLang="en-US" sz="1500" dirty="0"/>
          </a:p>
        </p:txBody>
      </p:sp>
      <p:sp>
        <p:nvSpPr>
          <p:cNvPr id="104" name="TextBox 103"/>
          <p:cNvSpPr txBox="1"/>
          <p:nvPr/>
        </p:nvSpPr>
        <p:spPr>
          <a:xfrm>
            <a:off x="7719317" y="3922498"/>
            <a:ext cx="164019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err="1" smtClean="0"/>
              <a:t>인스턴스</a:t>
            </a:r>
            <a:r>
              <a:rPr lang="ko-KR" altLang="en-US" sz="1500" dirty="0" smtClean="0"/>
              <a:t> 관리</a:t>
            </a:r>
            <a:r>
              <a:rPr lang="en-US" altLang="ko-KR" sz="1500" dirty="0" smtClean="0"/>
              <a:t/>
            </a:r>
            <a:br>
              <a:rPr lang="en-US" altLang="ko-KR" sz="1500" dirty="0" smtClean="0"/>
            </a:br>
            <a:r>
              <a:rPr lang="ko-KR" altLang="en-US" sz="1500" dirty="0" smtClean="0"/>
              <a:t>업데이트</a:t>
            </a:r>
            <a:r>
              <a:rPr lang="en-US" altLang="ko-KR" sz="1500" dirty="0" smtClean="0"/>
              <a:t>, </a:t>
            </a:r>
            <a:r>
              <a:rPr lang="ko-KR" altLang="en-US" sz="1500" dirty="0" err="1" smtClean="0"/>
              <a:t>렌더링</a:t>
            </a:r>
            <a:endParaRPr lang="ko-KR" altLang="en-US" sz="1500" dirty="0"/>
          </a:p>
        </p:txBody>
      </p:sp>
      <p:sp>
        <p:nvSpPr>
          <p:cNvPr id="106" name="TextBox 105"/>
          <p:cNvSpPr txBox="1"/>
          <p:nvPr/>
        </p:nvSpPr>
        <p:spPr>
          <a:xfrm>
            <a:off x="5438428" y="2236829"/>
            <a:ext cx="185820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게임 루프에서 </a:t>
            </a:r>
            <a:r>
              <a:rPr lang="en-US" altLang="ko-KR" sz="1500" dirty="0" smtClean="0"/>
              <a:t/>
            </a:r>
            <a:br>
              <a:rPr lang="en-US" altLang="ko-KR" sz="1500" dirty="0" smtClean="0"/>
            </a:br>
            <a:r>
              <a:rPr lang="ko-KR" altLang="en-US" sz="1500" dirty="0" smtClean="0"/>
              <a:t>업데이트 및 </a:t>
            </a:r>
            <a:r>
              <a:rPr lang="ko-KR" altLang="en-US" sz="1500" dirty="0" err="1" smtClean="0"/>
              <a:t>렌더링</a:t>
            </a:r>
            <a:endParaRPr lang="ko-KR" altLang="en-US" sz="1500" dirty="0"/>
          </a:p>
        </p:txBody>
      </p:sp>
      <p:cxnSp>
        <p:nvCxnSpPr>
          <p:cNvPr id="110" name="꺾인 연결선 109"/>
          <p:cNvCxnSpPr>
            <a:stCxn id="50" idx="3"/>
            <a:endCxn id="51" idx="1"/>
          </p:cNvCxnSpPr>
          <p:nvPr/>
        </p:nvCxnSpPr>
        <p:spPr>
          <a:xfrm flipV="1">
            <a:off x="5818018" y="6147683"/>
            <a:ext cx="1715534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6658697" y="4999644"/>
            <a:ext cx="56938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dirty="0" smtClean="0"/>
              <a:t>상속</a:t>
            </a:r>
            <a:endParaRPr lang="ko-KR" altLang="en-US" sz="1500" dirty="0"/>
          </a:p>
        </p:txBody>
      </p:sp>
      <p:sp>
        <p:nvSpPr>
          <p:cNvPr id="112" name="TextBox 111"/>
          <p:cNvSpPr txBox="1"/>
          <p:nvPr/>
        </p:nvSpPr>
        <p:spPr>
          <a:xfrm>
            <a:off x="2063511" y="5871352"/>
            <a:ext cx="237763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500" dirty="0" err="1" smtClean="0"/>
              <a:t>씬에</a:t>
            </a:r>
            <a:r>
              <a:rPr lang="ko-KR" altLang="en-US" sz="1500" dirty="0" smtClean="0"/>
              <a:t> 배치될 수 있는 객체</a:t>
            </a:r>
            <a:endParaRPr lang="en-US" altLang="ko-KR" sz="1500" dirty="0" smtClean="0"/>
          </a:p>
          <a:p>
            <a:pPr algn="r"/>
            <a:r>
              <a:rPr lang="ko-KR" altLang="en-US" sz="1500" dirty="0" smtClean="0"/>
              <a:t>컴포넌트로 기능 확장</a:t>
            </a:r>
            <a:endParaRPr lang="ko-KR" altLang="en-US" sz="1500" dirty="0"/>
          </a:p>
        </p:txBody>
      </p:sp>
      <p:sp>
        <p:nvSpPr>
          <p:cNvPr id="117" name="TextBox 116"/>
          <p:cNvSpPr txBox="1"/>
          <p:nvPr/>
        </p:nvSpPr>
        <p:spPr>
          <a:xfrm>
            <a:off x="8929645" y="5870015"/>
            <a:ext cx="166584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err="1" smtClean="0"/>
              <a:t>액터의</a:t>
            </a:r>
            <a:r>
              <a:rPr lang="ko-KR" altLang="en-US" sz="1500" dirty="0" smtClean="0"/>
              <a:t> </a:t>
            </a:r>
            <a:r>
              <a:rPr lang="en-US" altLang="ko-KR" sz="1500" dirty="0" smtClean="0"/>
              <a:t/>
            </a:r>
            <a:br>
              <a:rPr lang="en-US" altLang="ko-KR" sz="1500" dirty="0" smtClean="0"/>
            </a:br>
            <a:r>
              <a:rPr lang="ko-KR" altLang="en-US" sz="1500" dirty="0" smtClean="0"/>
              <a:t>기능 확장 클래스</a:t>
            </a:r>
            <a:endParaRPr lang="ko-KR" altLang="en-US" sz="1500" dirty="0"/>
          </a:p>
        </p:txBody>
      </p:sp>
      <p:sp>
        <p:nvSpPr>
          <p:cNvPr id="85" name="TextBox 84"/>
          <p:cNvSpPr txBox="1"/>
          <p:nvPr/>
        </p:nvSpPr>
        <p:spPr>
          <a:xfrm>
            <a:off x="6392990" y="6100848"/>
            <a:ext cx="5693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dirty="0" smtClean="0"/>
              <a:t>의존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3165393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68E24C7-A429-CDA0-4EB6-16142BB05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4715F932-2F2C-4A3F-7F16-1B13D352985A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이번 주 작업 내역</a:t>
            </a:r>
            <a:endParaRPr lang="en-US" altLang="ko-KR" dirty="0"/>
          </a:p>
        </p:txBody>
      </p:sp>
      <p:sp>
        <p:nvSpPr>
          <p:cNvPr id="7" name="직사각형 6"/>
          <p:cNvSpPr/>
          <p:nvPr/>
        </p:nvSpPr>
        <p:spPr>
          <a:xfrm>
            <a:off x="302451" y="758852"/>
            <a:ext cx="6096000" cy="1569660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 err="1" smtClean="0"/>
              <a:t>fbx</a:t>
            </a:r>
            <a:r>
              <a:rPr lang="ko-KR" altLang="en-US" sz="1600" dirty="0" smtClean="0"/>
              <a:t> </a:t>
            </a:r>
            <a:r>
              <a:rPr lang="ko-KR" altLang="en-US" sz="1600" dirty="0"/>
              <a:t>파일 </a:t>
            </a:r>
            <a:r>
              <a:rPr lang="ko-KR" altLang="en-US" sz="1600" dirty="0" err="1" smtClean="0"/>
              <a:t>파싱</a:t>
            </a:r>
            <a:r>
              <a:rPr lang="ko-KR" altLang="en-US" sz="1600" dirty="0" smtClean="0"/>
              <a:t> </a:t>
            </a:r>
            <a:endParaRPr lang="en-US" altLang="ko-KR" sz="16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600" dirty="0" err="1" smtClean="0"/>
              <a:t>Assimp</a:t>
            </a:r>
            <a:r>
              <a:rPr lang="en-US" altLang="ko-KR" sz="1600" dirty="0" smtClean="0"/>
              <a:t> </a:t>
            </a:r>
            <a:r>
              <a:rPr lang="ko-KR" altLang="en-US" sz="1600" dirty="0"/>
              <a:t>활용하여 </a:t>
            </a:r>
            <a:r>
              <a:rPr lang="en-US" altLang="ko-KR" sz="1600" dirty="0"/>
              <a:t>FBX</a:t>
            </a:r>
            <a:r>
              <a:rPr lang="ko-KR" altLang="en-US" sz="1600" dirty="0"/>
              <a:t>에 한정되지 않도록 </a:t>
            </a:r>
            <a:r>
              <a:rPr lang="ko-KR" altLang="en-US" sz="1600" dirty="0" smtClean="0"/>
              <a:t>수정 </a:t>
            </a:r>
            <a:r>
              <a:rPr lang="ko-KR" altLang="en-US" sz="1600" dirty="0"/>
              <a:t>진행 중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 err="1" smtClean="0"/>
              <a:t>fbx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객체 </a:t>
            </a:r>
            <a:r>
              <a:rPr lang="ko-KR" altLang="en-US" sz="1600" dirty="0" err="1"/>
              <a:t>렌더링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애니메이션 로드 및 </a:t>
            </a:r>
            <a:r>
              <a:rPr lang="ko-KR" altLang="en-US" sz="1600" dirty="0" smtClean="0"/>
              <a:t>재생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애니메이션 </a:t>
            </a:r>
            <a:r>
              <a:rPr lang="ko-KR" altLang="en-US" sz="1600" dirty="0" err="1"/>
              <a:t>블렌드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진행 중</a:t>
            </a:r>
            <a:r>
              <a:rPr lang="en-US" altLang="ko-KR" sz="1600" dirty="0" smtClean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 smtClean="0"/>
              <a:t>자체 </a:t>
            </a:r>
            <a:r>
              <a:rPr lang="ko-KR" altLang="en-US" sz="1600" dirty="0" err="1" smtClean="0"/>
              <a:t>메쉬</a:t>
            </a:r>
            <a:r>
              <a:rPr lang="en-US" altLang="ko-KR" sz="1600" dirty="0" smtClean="0"/>
              <a:t>, </a:t>
            </a:r>
            <a:r>
              <a:rPr lang="ko-KR" altLang="en-US" sz="1600" dirty="0" err="1" smtClean="0"/>
              <a:t>스켈레톤</a:t>
            </a:r>
            <a:r>
              <a:rPr lang="ko-KR" altLang="en-US" sz="1600" dirty="0" smtClean="0"/>
              <a:t> 데이터 기반 작업</a:t>
            </a:r>
            <a:endParaRPr lang="en-US" altLang="ko-KR" sz="1600" dirty="0"/>
          </a:p>
        </p:txBody>
      </p:sp>
      <p:sp>
        <p:nvSpPr>
          <p:cNvPr id="2" name="직사각형 1"/>
          <p:cNvSpPr/>
          <p:nvPr/>
        </p:nvSpPr>
        <p:spPr>
          <a:xfrm>
            <a:off x="422032" y="3818373"/>
            <a:ext cx="3537019" cy="2301073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큐브</a:t>
            </a:r>
            <a:r>
              <a:rPr lang="ko-KR" altLang="en-US" dirty="0" smtClean="0"/>
              <a:t> 이미지 추가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4267201" y="3818373"/>
            <a:ext cx="3537019" cy="2301073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X bot </a:t>
            </a:r>
            <a:r>
              <a:rPr lang="ko-KR" altLang="en-US" dirty="0" smtClean="0"/>
              <a:t>이미지 추가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8112371" y="3818373"/>
            <a:ext cx="3537019" cy="2301073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애니메이션 이미지 추가</a:t>
            </a:r>
            <a:endParaRPr lang="ko-KR" altLang="en-US" dirty="0"/>
          </a:p>
        </p:txBody>
      </p:sp>
      <p:sp>
        <p:nvSpPr>
          <p:cNvPr id="11" name="직사각형 10"/>
          <p:cNvSpPr/>
          <p:nvPr/>
        </p:nvSpPr>
        <p:spPr>
          <a:xfrm>
            <a:off x="5737263" y="1473536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tx1"/>
                </a:solidFill>
              </a:rPr>
              <a:t>ModelData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5737263" y="2144399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tx1"/>
                </a:solidFill>
              </a:rPr>
              <a:t>Renderer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8519329" y="1749866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tx1"/>
                </a:solidFill>
              </a:rPr>
              <a:t>MeshComponent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8519329" y="684785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tx1"/>
                </a:solidFill>
              </a:rPr>
              <a:t>Component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꺾인 연결선 14"/>
          <p:cNvCxnSpPr>
            <a:stCxn id="13" idx="0"/>
            <a:endCxn id="14" idx="2"/>
          </p:cNvCxnSpPr>
          <p:nvPr/>
        </p:nvCxnSpPr>
        <p:spPr>
          <a:xfrm rot="5400000" flipH="1" flipV="1">
            <a:off x="9192591" y="1493656"/>
            <a:ext cx="512420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꺾인 연결선 20"/>
          <p:cNvCxnSpPr>
            <a:stCxn id="13" idx="1"/>
            <a:endCxn id="11" idx="3"/>
          </p:cNvCxnSpPr>
          <p:nvPr/>
        </p:nvCxnSpPr>
        <p:spPr>
          <a:xfrm rot="10800000">
            <a:off x="7596207" y="1749867"/>
            <a:ext cx="923122" cy="27633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꺾인 연결선 22"/>
          <p:cNvCxnSpPr>
            <a:stCxn id="13" idx="1"/>
            <a:endCxn id="12" idx="3"/>
          </p:cNvCxnSpPr>
          <p:nvPr/>
        </p:nvCxnSpPr>
        <p:spPr>
          <a:xfrm rot="10800000" flipV="1">
            <a:off x="7596207" y="2026196"/>
            <a:ext cx="923122" cy="39453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직사각형 38"/>
          <p:cNvSpPr/>
          <p:nvPr/>
        </p:nvSpPr>
        <p:spPr>
          <a:xfrm>
            <a:off x="8525679" y="2897163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tx1"/>
                </a:solidFill>
              </a:rPr>
              <a:t>SkinnedMesh</a:t>
            </a:r>
            <a:r>
              <a:rPr lang="en-US" altLang="ko-KR" sz="1400" dirty="0" smtClean="0">
                <a:solidFill>
                  <a:schemeClr val="tx1"/>
                </a:solidFill>
              </a:rPr>
              <a:t/>
            </a:r>
            <a:br>
              <a:rPr lang="en-US" altLang="ko-KR" sz="1400" dirty="0" smtClean="0">
                <a:solidFill>
                  <a:schemeClr val="tx1"/>
                </a:solidFill>
              </a:rPr>
            </a:br>
            <a:r>
              <a:rPr lang="en-US" altLang="ko-KR" sz="1400" dirty="0" smtClean="0">
                <a:solidFill>
                  <a:schemeClr val="tx1"/>
                </a:solidFill>
              </a:rPr>
              <a:t>Component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5737263" y="2897164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tx1"/>
                </a:solidFill>
              </a:rPr>
              <a:t>Animation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cxnSp>
        <p:nvCxnSpPr>
          <p:cNvPr id="43" name="꺾인 연결선 42"/>
          <p:cNvCxnSpPr>
            <a:stCxn id="39" idx="0"/>
            <a:endCxn id="13" idx="2"/>
          </p:cNvCxnSpPr>
          <p:nvPr/>
        </p:nvCxnSpPr>
        <p:spPr>
          <a:xfrm rot="16200000" flipV="1">
            <a:off x="9154658" y="2596670"/>
            <a:ext cx="594636" cy="635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 44"/>
          <p:cNvCxnSpPr>
            <a:stCxn id="39" idx="1"/>
            <a:endCxn id="41" idx="3"/>
          </p:cNvCxnSpPr>
          <p:nvPr/>
        </p:nvCxnSpPr>
        <p:spPr>
          <a:xfrm rot="10800000" flipV="1">
            <a:off x="7596207" y="3173493"/>
            <a:ext cx="929472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442451" y="1349763"/>
            <a:ext cx="5693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dirty="0" smtClean="0"/>
              <a:t>상속</a:t>
            </a:r>
            <a:endParaRPr lang="ko-KR" altLang="en-US" sz="1500" dirty="0"/>
          </a:p>
        </p:txBody>
      </p:sp>
      <p:sp>
        <p:nvSpPr>
          <p:cNvPr id="53" name="TextBox 52"/>
          <p:cNvSpPr txBox="1"/>
          <p:nvPr/>
        </p:nvSpPr>
        <p:spPr>
          <a:xfrm>
            <a:off x="9442451" y="2438262"/>
            <a:ext cx="5693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dirty="0" smtClean="0"/>
              <a:t>상속</a:t>
            </a:r>
            <a:endParaRPr lang="ko-KR" altLang="en-US" sz="1500" dirty="0"/>
          </a:p>
        </p:txBody>
      </p:sp>
      <p:sp>
        <p:nvSpPr>
          <p:cNvPr id="54" name="TextBox 53"/>
          <p:cNvSpPr txBox="1"/>
          <p:nvPr/>
        </p:nvSpPr>
        <p:spPr>
          <a:xfrm>
            <a:off x="8112371" y="223454"/>
            <a:ext cx="258917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 err="1" smtClean="0"/>
              <a:t>MeshComponent</a:t>
            </a:r>
            <a:r>
              <a:rPr lang="en-US" altLang="ko-KR" sz="1500" dirty="0" smtClean="0"/>
              <a:t> </a:t>
            </a:r>
            <a:r>
              <a:rPr lang="ko-KR" altLang="en-US" sz="1500" dirty="0" smtClean="0"/>
              <a:t>구현 예정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1847778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4715F932-2F2C-4A3F-7F16-1B13D352985A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진행 계획</a:t>
            </a:r>
            <a:r>
              <a:rPr lang="en-US" altLang="ko-KR" dirty="0"/>
              <a:t> (</a:t>
            </a:r>
            <a:r>
              <a:rPr lang="ko-KR" altLang="en-US" dirty="0" err="1"/>
              <a:t>주차별</a:t>
            </a:r>
            <a:r>
              <a:rPr lang="ko-KR" altLang="en-US" dirty="0"/>
              <a:t> 목표</a:t>
            </a:r>
            <a:r>
              <a:rPr lang="en-US" altLang="ko-KR" dirty="0"/>
              <a:t>)</a:t>
            </a:r>
            <a:endParaRPr lang="en-US" altLang="ko-KR" dirty="0"/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1908827"/>
              </p:ext>
            </p:extLst>
          </p:nvPr>
        </p:nvGraphicFramePr>
        <p:xfrm>
          <a:off x="420856" y="870858"/>
          <a:ext cx="11437314" cy="55381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9719"/>
                <a:gridCol w="4251311"/>
                <a:gridCol w="6386284"/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 smtClean="0"/>
                        <a:t>작업 목표</a:t>
                      </a:r>
                      <a:endParaRPr lang="ko-KR" altLang="en-US" sz="20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 smtClean="0"/>
                        <a:t>작업 세부 내용</a:t>
                      </a:r>
                      <a:endParaRPr lang="ko-KR" altLang="en-US" sz="2000" b="0" dirty="0"/>
                    </a:p>
                  </a:txBody>
                  <a:tcPr/>
                </a:tc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 smtClean="0"/>
                        <a:t>미니엔진 기반 구성</a:t>
                      </a:r>
                      <a:endParaRPr lang="en-US" altLang="ko-KR" sz="16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600" dirty="0" smtClean="0"/>
                        <a:t>미니엔진 파악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게임 기반 클래스 작성</a:t>
                      </a:r>
                      <a:r>
                        <a:rPr lang="en-US" altLang="ko-KR" sz="1600" dirty="0" smtClean="0"/>
                        <a:t>, </a:t>
                      </a:r>
                      <a:br>
                        <a:rPr lang="en-US" altLang="ko-KR" sz="1600" dirty="0" smtClean="0"/>
                      </a:br>
                      <a:r>
                        <a:rPr lang="en-US" altLang="ko-KR" sz="1600" dirty="0" err="1" smtClean="0"/>
                        <a:t>fbx</a:t>
                      </a: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파일 </a:t>
                      </a:r>
                      <a:r>
                        <a:rPr lang="ko-KR" altLang="en-US" sz="1600" dirty="0" err="1" smtClean="0"/>
                        <a:t>파싱</a:t>
                      </a:r>
                      <a:r>
                        <a:rPr lang="en-US" altLang="ko-KR" sz="1600" baseline="0" dirty="0" smtClean="0"/>
                        <a:t>, </a:t>
                      </a:r>
                      <a:r>
                        <a:rPr lang="ko-KR" altLang="en-US" sz="1600" baseline="0" dirty="0" smtClean="0"/>
                        <a:t>씬 </a:t>
                      </a:r>
                      <a:r>
                        <a:rPr lang="ko-KR" altLang="en-US" sz="1600" baseline="0" dirty="0" err="1" smtClean="0"/>
                        <a:t>렌더링</a:t>
                      </a:r>
                      <a:r>
                        <a:rPr lang="en-US" altLang="ko-KR" sz="1600" baseline="0" dirty="0" smtClean="0"/>
                        <a:t>, </a:t>
                      </a:r>
                      <a:r>
                        <a:rPr lang="ko-KR" altLang="en-US" sz="1600" baseline="0" dirty="0" smtClean="0"/>
                        <a:t>애니메이션 재생</a:t>
                      </a:r>
                      <a:endParaRPr lang="ko-KR" altLang="en-US" sz="1600" dirty="0"/>
                    </a:p>
                  </a:txBody>
                  <a:tcPr/>
                </a:tc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애니메이션 시스템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물리엔진 적용</a:t>
                      </a:r>
                      <a:r>
                        <a:rPr lang="en-US" altLang="ko-KR" sz="1600" dirty="0" smtClean="0"/>
                        <a:t>,</a:t>
                      </a:r>
                    </a:p>
                    <a:p>
                      <a:pPr latinLnBrk="1"/>
                      <a:r>
                        <a:rPr lang="ko-KR" altLang="en-US" sz="1600" dirty="0" smtClean="0"/>
                        <a:t>입력 바인딩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캐릭터 애니메이션 </a:t>
                      </a:r>
                      <a:r>
                        <a:rPr lang="ko-KR" altLang="en-US" sz="1600" dirty="0" err="1" smtClean="0"/>
                        <a:t>블렌드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애니메이션 </a:t>
                      </a:r>
                      <a:r>
                        <a:rPr lang="ko-KR" altLang="en-US" sz="1600" dirty="0" err="1" smtClean="0"/>
                        <a:t>상태머신</a:t>
                      </a:r>
                      <a:r>
                        <a:rPr lang="en-US" altLang="ko-KR" sz="1600" dirty="0" smtClean="0"/>
                        <a:t>,</a:t>
                      </a:r>
                    </a:p>
                    <a:p>
                      <a:pPr latinLnBrk="1"/>
                      <a:r>
                        <a:rPr lang="ko-KR" altLang="en-US" sz="1600" dirty="0" smtClean="0"/>
                        <a:t>물리엔진</a:t>
                      </a:r>
                      <a:r>
                        <a:rPr lang="en-US" altLang="ko-KR" sz="1600" dirty="0" smtClean="0"/>
                        <a:t>(PhysX) </a:t>
                      </a:r>
                      <a:r>
                        <a:rPr lang="ko-KR" altLang="en-US" sz="1600" dirty="0" smtClean="0"/>
                        <a:t>적용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캐릭터 입력 바인딩</a:t>
                      </a:r>
                      <a:endParaRPr lang="ko-KR" altLang="en-US" sz="1600" dirty="0"/>
                    </a:p>
                  </a:txBody>
                  <a:tcPr/>
                </a:tc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씬 배치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캐릭터</a:t>
                      </a: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err="1" smtClean="0"/>
                        <a:t>파쿠르</a:t>
                      </a:r>
                      <a:r>
                        <a:rPr lang="ko-KR" altLang="en-US" sz="1600" dirty="0" smtClean="0"/>
                        <a:t> 애니메이션 적용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씬</a:t>
                      </a:r>
                      <a:r>
                        <a:rPr lang="en-US" altLang="ko-KR" sz="1600" baseline="0" dirty="0" smtClean="0"/>
                        <a:t> </a:t>
                      </a:r>
                      <a:r>
                        <a:rPr lang="ko-KR" altLang="en-US" sz="1600" baseline="0" dirty="0" smtClean="0"/>
                        <a:t>데이터 직렬화 </a:t>
                      </a:r>
                      <a:r>
                        <a:rPr lang="en-US" altLang="ko-KR" sz="1600" baseline="0" dirty="0" smtClean="0"/>
                        <a:t>(</a:t>
                      </a:r>
                      <a:r>
                        <a:rPr lang="ko-KR" altLang="en-US" sz="1600" baseline="0" dirty="0" smtClean="0"/>
                        <a:t>장애물 배치 정보</a:t>
                      </a:r>
                      <a:r>
                        <a:rPr lang="en-US" altLang="ko-KR" sz="1600" baseline="0" dirty="0" smtClean="0"/>
                        <a:t>),</a:t>
                      </a:r>
                    </a:p>
                    <a:p>
                      <a:pPr latinLnBrk="1"/>
                      <a:r>
                        <a:rPr lang="ko-KR" altLang="en-US" sz="1600" baseline="0" dirty="0" smtClean="0"/>
                        <a:t>캐릭터 </a:t>
                      </a:r>
                      <a:r>
                        <a:rPr lang="en-US" altLang="ko-KR" sz="1600" baseline="0" dirty="0" smtClean="0"/>
                        <a:t>– </a:t>
                      </a:r>
                      <a:r>
                        <a:rPr lang="ko-KR" altLang="en-US" sz="1600" baseline="0" dirty="0" smtClean="0"/>
                        <a:t>장애물 인식 및 </a:t>
                      </a:r>
                      <a:r>
                        <a:rPr lang="ko-KR" altLang="en-US" sz="1600" baseline="0" dirty="0" err="1" smtClean="0"/>
                        <a:t>파쿠르</a:t>
                      </a:r>
                      <a:r>
                        <a:rPr lang="ko-KR" altLang="en-US" sz="1600" baseline="0" dirty="0" smtClean="0"/>
                        <a:t> 애니메이션 선택 및 출력</a:t>
                      </a:r>
                      <a:endParaRPr lang="ko-KR" altLang="en-US" sz="1600" dirty="0"/>
                    </a:p>
                  </a:txBody>
                  <a:tcPr/>
                </a:tc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 smtClean="0"/>
                        <a:t>파쿠르</a:t>
                      </a:r>
                      <a:r>
                        <a:rPr lang="ko-KR" altLang="en-US" sz="1600" dirty="0" smtClean="0"/>
                        <a:t> 시스템 </a:t>
                      </a:r>
                      <a:r>
                        <a:rPr lang="ko-KR" altLang="en-US" sz="1600" dirty="0" err="1" smtClean="0"/>
                        <a:t>프로토타입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미흡 사항 보완</a:t>
                      </a:r>
                      <a:r>
                        <a:rPr lang="en-US" altLang="ko-KR" sz="1600" dirty="0" smtClean="0"/>
                        <a:t>,</a:t>
                      </a:r>
                      <a:r>
                        <a:rPr lang="ko-KR" altLang="en-US" sz="1600" dirty="0" smtClean="0"/>
                        <a:t> 애니메이션 </a:t>
                      </a:r>
                      <a:r>
                        <a:rPr lang="en-US" altLang="ko-KR" sz="1600" dirty="0" smtClean="0"/>
                        <a:t>IK </a:t>
                      </a:r>
                      <a:r>
                        <a:rPr lang="ko-KR" altLang="en-US" sz="1600" dirty="0" smtClean="0"/>
                        <a:t>적용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복잡한 지형 내 </a:t>
                      </a:r>
                      <a:r>
                        <a:rPr lang="ko-KR" altLang="en-US" sz="1600" dirty="0" err="1" smtClean="0"/>
                        <a:t>파쿠르</a:t>
                      </a:r>
                      <a:r>
                        <a:rPr lang="ko-KR" altLang="en-US" sz="1600" dirty="0" smtClean="0"/>
                        <a:t> 시스템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933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268</Words>
  <Application>Microsoft Office PowerPoint</Application>
  <PresentationFormat>와이드스크린</PresentationFormat>
  <Paragraphs>88</Paragraphs>
  <Slides>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USER</cp:lastModifiedBy>
  <cp:revision>291</cp:revision>
  <dcterms:created xsi:type="dcterms:W3CDTF">2026-07-02T09:06:49Z</dcterms:created>
  <dcterms:modified xsi:type="dcterms:W3CDTF">2026-07-02T15:53:39Z</dcterms:modified>
</cp:coreProperties>
</file>